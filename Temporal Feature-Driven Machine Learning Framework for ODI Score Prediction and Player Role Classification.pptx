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BtTrHhpQcDgTjyrGo34QApjJ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352577-8086-43E6-AA43-89DAD8EF78DC}">
  <a:tblStyle styleId="{56352577-8086-43E6-AA43-89DAD8EF78D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685494" y="4342944"/>
            <a:ext cx="5487013" cy="4114593"/>
          </a:xfrm>
          <a:prstGeom prst="rect">
            <a:avLst/>
          </a:prstGeom>
          <a:noFill/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title"/>
          </p:nvPr>
        </p:nvSpPr>
        <p:spPr>
          <a:xfrm>
            <a:off x="907148" y="159201"/>
            <a:ext cx="6946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" type="body"/>
          </p:nvPr>
        </p:nvSpPr>
        <p:spPr>
          <a:xfrm>
            <a:off x="152400" y="742950"/>
            <a:ext cx="8839200" cy="397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✔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0" type="dt"/>
          </p:nvPr>
        </p:nvSpPr>
        <p:spPr>
          <a:xfrm>
            <a:off x="38100" y="4743450"/>
            <a:ext cx="174498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2171700" y="4769644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/>
          <p:nvPr/>
        </p:nvSpPr>
        <p:spPr>
          <a:xfrm>
            <a:off x="0" y="4664869"/>
            <a:ext cx="9144000" cy="457200"/>
          </a:xfrm>
          <a:prstGeom prst="rect">
            <a:avLst/>
          </a:prstGeom>
          <a:solidFill>
            <a:srgbClr val="262673"/>
          </a:solidFill>
          <a:ln cap="flat" cmpd="sng" w="9525">
            <a:solidFill>
              <a:srgbClr val="00009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6"/>
          <p:cNvSpPr txBox="1"/>
          <p:nvPr>
            <p:ph type="title"/>
          </p:nvPr>
        </p:nvSpPr>
        <p:spPr>
          <a:xfrm>
            <a:off x="261938" y="61913"/>
            <a:ext cx="6451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" type="body"/>
          </p:nvPr>
        </p:nvSpPr>
        <p:spPr>
          <a:xfrm>
            <a:off x="152400" y="692944"/>
            <a:ext cx="8839200" cy="397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7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7"/>
              </a:buClr>
              <a:buSzPts val="2000"/>
              <a:buFont typeface="Noto Sans Symbols"/>
              <a:buChar char="✔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7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6"/>
          <p:cNvSpPr/>
          <p:nvPr/>
        </p:nvSpPr>
        <p:spPr>
          <a:xfrm>
            <a:off x="0" y="620316"/>
            <a:ext cx="9144000" cy="89297"/>
          </a:xfrm>
          <a:prstGeom prst="rect">
            <a:avLst/>
          </a:prstGeom>
          <a:solidFill>
            <a:srgbClr val="262673"/>
          </a:solidFill>
          <a:ln cap="flat" cmpd="sng" w="9525">
            <a:solidFill>
              <a:schemeClr val="dk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6"/>
          <p:cNvSpPr txBox="1"/>
          <p:nvPr>
            <p:ph idx="10" type="dt"/>
          </p:nvPr>
        </p:nvSpPr>
        <p:spPr>
          <a:xfrm>
            <a:off x="38100" y="4743450"/>
            <a:ext cx="1300163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2" type="sldNum"/>
          </p:nvPr>
        </p:nvSpPr>
        <p:spPr>
          <a:xfrm>
            <a:off x="6819900" y="4769644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26"/>
          <p:cNvSpPr txBox="1"/>
          <p:nvPr>
            <p:ph idx="11" type="ftr"/>
          </p:nvPr>
        </p:nvSpPr>
        <p:spPr>
          <a:xfrm>
            <a:off x="2171700" y="4769644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982788" y="0"/>
            <a:ext cx="3161211" cy="6203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171700" y="4769644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School of Computing 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4664869"/>
            <a:ext cx="9144000" cy="457200"/>
          </a:xfrm>
          <a:prstGeom prst="rect">
            <a:avLst/>
          </a:prstGeom>
          <a:solidFill>
            <a:srgbClr val="262673"/>
          </a:solidFill>
          <a:ln cap="flat" cmpd="sng" w="9525">
            <a:solidFill>
              <a:srgbClr val="00009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8316191" y="3730643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School of Computing 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4112" y="0"/>
            <a:ext cx="3359888" cy="69111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 txBox="1"/>
          <p:nvPr/>
        </p:nvSpPr>
        <p:spPr>
          <a:xfrm>
            <a:off x="502920" y="1446257"/>
            <a:ext cx="81381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Feature-Driven Machine Learning Framework for ODI Score Prediction and Player Role Classification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502927" y="3436275"/>
            <a:ext cx="181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Vidivelli 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5029200" y="3435850"/>
            <a:ext cx="375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 Dharshini V – 127018063 (CSBS)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Presentation Layout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212651" y="1061626"/>
            <a:ext cx="8633700" cy="3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 / System Architecture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Preprocessing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182" y="0"/>
            <a:ext cx="3000818" cy="67771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255181" y="896407"/>
            <a:ext cx="8633638" cy="3681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ODI ball-by-ball data contains rich sequential information about scoring, wickets and player context.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Final-score prediction depends on both the current innings state and recent match momentum.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features alone may miss short-term changes in scoring rate, boundaries and wickets.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Player role classification provides a complementary player-level analytics task.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reproducible ML pipeline is required from raw Cricsheet data to deployable predictions.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182" y="0"/>
            <a:ext cx="3000818" cy="67771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255181" y="896407"/>
            <a:ext cx="8633638" cy="3681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the final ODI innings score from the current match state.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temporal features that capture recent scoring, ball quality and wicket momentum.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multiple machine-learning regressors and build the final XGBoost score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players into Batsman, Batting All-rounder, Bowler and Bowling All-rounder.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performance using test metrics, cross-validation and detailed error analysis.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182" y="0"/>
            <a:ext cx="3000818" cy="67771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255181" y="896407"/>
            <a:ext cx="8633638" cy="3681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ball-by-ball ODI information at a particular point in an innings, estimate the final innings score.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numerical match-state features and categorical context such as teams, venue and players.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 temporal information without using future deliveries or causing data leakage.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error varies across innings stages, score ranges and overs remaining.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second ML task classifies players using batting and bowling performance statistics.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182" y="0"/>
            <a:ext cx="3000818" cy="67771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0" y="787146"/>
            <a:ext cx="9144000" cy="3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6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76" name="Google Shape;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987" y="-1"/>
            <a:ext cx="3009014" cy="62732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graphicFrame>
        <p:nvGraphicFramePr>
          <p:cNvPr id="78" name="Google Shape;78;p6"/>
          <p:cNvGraphicFramePr/>
          <p:nvPr/>
        </p:nvGraphicFramePr>
        <p:xfrm>
          <a:off x="320040" y="960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{56352577-8086-43E6-AA43-89DAD8EF78DC}</a:tableStyleId>
              </a:tblPr>
              <a:tblGrid>
                <a:gridCol w="2162675"/>
                <a:gridCol w="1764200"/>
                <a:gridCol w="4074125"/>
              </a:tblGrid>
              <a:tr h="84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/ Approach </a:t>
                      </a:r>
                      <a:endParaRPr b="1"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4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Suguna et al. (2023) - Base Paper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Cricsheet ODI + ML models 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 prediction + 4-class player categorization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4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Lawate et al.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IPL ball-by-ball data 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recent 5-over statistics for score prediction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4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Gagana et al.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T20 match data </a:t>
                      </a:r>
                      <a:endParaRPr sz="11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Naive Bayes, Decision Tree and Random Forest 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0" y="760021"/>
            <a:ext cx="9144000" cy="3729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97"/>
              </a:buClr>
              <a:buSzPts val="18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7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987" y="-1"/>
            <a:ext cx="3009014" cy="62732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7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graphicFrame>
        <p:nvGraphicFramePr>
          <p:cNvPr id="88" name="Google Shape;88;p7"/>
          <p:cNvGraphicFramePr/>
          <p:nvPr/>
        </p:nvGraphicFramePr>
        <p:xfrm>
          <a:off x="320040" y="960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{56352577-8086-43E6-AA43-89DAD8EF78DC}</a:tableStyleId>
              </a:tblPr>
              <a:tblGrid>
                <a:gridCol w="4229100"/>
                <a:gridCol w="4229100"/>
              </a:tblGrid>
              <a:tr h="84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Focus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4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temporal context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 current innings state with multi-window recent features.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4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Hidden stage-wise errors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Analyse error by innings stage, score range and overs remaining.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4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Early/short innings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Explicitly test robustness instead of removing difficult cases.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94" name="Google Shape;94;p8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8000" y="0"/>
            <a:ext cx="3256000" cy="6564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pic>
        <p:nvPicPr>
          <p:cNvPr id="97" name="Google Shape;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9025" y="868363"/>
            <a:ext cx="5605947" cy="3737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268224" y="926591"/>
            <a:ext cx="8638676" cy="3614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Dataset: Cricsheet Men's ODI ball-by-ball JSON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2,576 ODI matches were used in the chronological match-level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processed dataset contains 1,366,311 delivery records.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Each delivery contains innings context, teams, players, runs and wicket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final score-prediction pipeline uses 20 model input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Player classification dataset contains 1,340 player records across four role classes.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Dataset Preprocessing – Data Preparation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268224" y="926591"/>
            <a:ext cx="8638676" cy="3614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Parse each Cricsheet JSON match into structured delivery-level records.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Preserve chronological delivery order within every innings.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Create match, innings, over and ball identifiers for feature construction.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Track cumulative score, wickets and current run rate at each prediction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Use a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randomized match-level split so test matches do not overlap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training matches.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0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Dataset Preprocessing – Targets &amp; Role Labels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282498" y="854927"/>
            <a:ext cx="8576494" cy="3670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Score-prediction target: final score of the corresponding ODI innings.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Player-classification target: four role classes derived from batting and bowling statistics.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Role 0 → Batsman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Role 1 → Batting All-rounder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Role 2 → Bowler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Role 3 → Bowling All-rounder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player dataset contains 1,340 labelled records.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Feature Engineering – Model Inputs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77675" y="736600"/>
            <a:ext cx="8956800" cy="3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numerical features include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innings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over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○"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wick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ets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last 5 overs score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current run 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overs remaining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last 3 overs score (short term momentum)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5 overs score (medium term momentum)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last 10 overs score (longer recent context)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boundary 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dot ball 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categorical features: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○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season, venue, batting team, bowling team, batter, non-striker and bowler.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variables include last-3/5/10-over scoring, boundary rate, dot-ball rate and recent 5-over wickets.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Categorical variables are one-hot encoded with unknown categories handled safely.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score-prediction input size = 20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2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Methodology – Match-State Features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282498" y="854927"/>
            <a:ext cx="8576494" cy="3670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Current score and wickets describe the present innings state.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Over and ball identify the exact point within the innings.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Current run rate summarizes scoring pace up to the prediction point.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Overs remaining provides the remaining opportunity to add runs.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These state features form the baseline representation before temporal information is added.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Methodology – Temporal Features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282498" y="854927"/>
            <a:ext cx="8576494" cy="3670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Last-3, last-5 and last-10-over scores capture recent scoring momentum at multiple time scales.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Boundary rate measures the frequency of fours and sixes in recent context.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Dot-ball rate represents pressure and low-scoring deliveries.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Recent 5-over wickets capture wicket momentum and changing batting stability.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Ablation testing evaluates which temporal groups contribute to final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School of Computing </a:t>
            </a:r>
            <a:endParaRPr/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Methodology – XGBoost Models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282498" y="854927"/>
            <a:ext cx="8576494" cy="3670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Final score predictor: XGBoost regression pipeline.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Preprocessing combines numerical passthrough with one-hot encoding for categorical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model was selected after baseline comparison and temporal-feature experiments.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Player classifier: XGBoost multiclass classification using batting and bowling statistics.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Saved model artifacts are integrated into the Streamlit demonstration application.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Training &amp; Testing Workflow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282498" y="854927"/>
            <a:ext cx="8576494" cy="3670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Randomized match-level split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2,060 training matches and 516 testing matches.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Training and testing matches have zero overlap.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Training records: 1,093,612 delivery rows; testing records: 272,699 delivery rows.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Train on earlier matches and evaluate on later unseen matches.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Player classification additionally uses stratified 5-fold cross-validation.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Result – Score Prediction Metrics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282498" y="868680"/>
            <a:ext cx="857649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Final XGBoost: MAE 32.95 runs, RMSE 44.25 runs, R² 0.5229.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Exact match-level analysis: MAE 32.93 runs, RMSE 44.27 runs, R² 0.5252.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Adding all temporal features improves the state-only MAE from 33.23 to 32.95.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/>
          </a:p>
        </p:txBody>
      </p:sp>
      <p:graphicFrame>
        <p:nvGraphicFramePr>
          <p:cNvPr id="179" name="Google Shape;179;p17"/>
          <p:cNvGraphicFramePr/>
          <p:nvPr/>
        </p:nvGraphicFramePr>
        <p:xfrm>
          <a:off x="9144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{56352577-8086-43E6-AA43-89DAD8EF78DC}</a:tableStyleId>
              </a:tblPr>
              <a:tblGrid>
                <a:gridCol w="3566150"/>
                <a:gridCol w="35661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MAE / RMSE / R²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32.95 / 44.25 / 0.5229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33.47 / 45.24 / 0.5065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33.44 / 45.40 / 0.4998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Gradient Boosting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34.68 / 46.04 / 0.4855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Linear Regression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38.46 / 50.18 / 0.3891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Result – Player Classification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282498" y="944135"/>
            <a:ext cx="8576494" cy="3588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XGBoost test accuracy = 99.25%; weighted F1 = 99.25%.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5-fold stratified CV accuracy = 97.61% ± 0.90%.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Random Forest: 97.76% test accuracy; 96.72% mean CV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SVM: 91.04% test accuracy; 89.25% mean CV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engineered batting/bowling profiles provide strong separation among the four role classes.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8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Result – Error Analysis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82498" y="944135"/>
            <a:ext cx="8576494" cy="3588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Overall match-level evaluation: MAE 32.93 runs, RMSE 44.27 runs, R² 0.5252.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By innings stage: Powerplay MAE 47.88; Middle overs 31.90; Death overs 12.58.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By current score: MAE falls from 46.11 for scores below 50 to 15.38 for scores above 200.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By overs remaining: MAE is 47.91 when more than 40 overs remain and 12.75 at 0–10 overs remaining.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Accuracy improves as the innings progresses and more information about the final score becomes available.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Result – Ablation &amp; Robustness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320040" y="932688"/>
            <a:ext cx="795527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State-only MAE = 33.23; State + Ball Quality = 33.06; State + All Temporal = 32.95.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Long innings (30+ overs): MAE 29.88; Very short innings (&lt;10 overs): MAE 187.52.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Short/early-terminated innings remain the major robustness limitation.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Difficult cases were retained rather than removed from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2057400"/>
            <a:ext cx="4846320" cy="250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Future Work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82498" y="944135"/>
            <a:ext cx="8576494" cy="3588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early-innings and short-innings prediction using richer sequential representations.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calibrated prediction intervals or uncertainty estimates for predicted scores.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additional temporal models such as sequence-based neural architectures.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validation to other cricket formats and competitions where compatible data is available.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 refining the Streamlit interface for live/demo-style prediction workflows.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19" y="0"/>
            <a:ext cx="3053981" cy="69897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170985" y="892098"/>
            <a:ext cx="8749992" cy="3620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Cricsheet, Men's ODI ball-by-ball JSON data, used for delivery-level match modelling.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Suguna R., Praveen Kumar Y., Suriya Prakash J., Neethu P.S., and Kiran S., “Utilizing Machine Learning for Sport Data Analytics in Cricket: Score Prediction and Player Categorization,” 2023 IEEE 3rd Mysore Sub Section International Conference (MysuruCon), 2023.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Gagana, "A Perspective on Analyzing IPL Match Results using Machine Learning," Int. J. for Sci. Research &amp; Development, vol. 7, no. 3, pp. 1476-1479, 2019.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Lawate et al., "Cricket Analysis and Prediction of projected Score and Winner using Machine Learning," Int. J. of Adv. Research in Computer and Comm. Engg., vol. 10, no. 2, 2021.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Chen, T. and Guestrin, C., “XGBoost: A Scalable Tree Boosting System,” KDD, 2016.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Pedregosa, F. et al., “Scikit-learn: Machine Learning in Python,” JMLR, 2011.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Software Foundation, Python documentation and scientific-computing ecosystem.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6856" y="0"/>
            <a:ext cx="3107144" cy="72024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0" y="0"/>
            <a:ext cx="68199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Project Resources &amp; Implementation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170985" y="892098"/>
            <a:ext cx="8749992" cy="3620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Dataset source: Cricsheet Men's ODI JSON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Processing: delivery-level parsing and chronological match-level train/test separation.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Feature engineering: state features + recent scoring + ball quality + wicket momentum.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Score model: final_xgboost_model.pkl.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Player model: final_player_classifier.pkl.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Demo application: app.py using Streamlit.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Repository: github.com/VPriyaDharshini2/cricket-score-prediction-ml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6856" y="0"/>
            <a:ext cx="3107144" cy="72024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/>
          <p:nvPr>
            <p:ph idx="11" type="ftr"/>
          </p:nvPr>
        </p:nvSpPr>
        <p:spPr>
          <a:xfrm>
            <a:off x="0" y="4758061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School of Computing </a:t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6856" y="0"/>
            <a:ext cx="3107144" cy="57415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>
            <p:ph idx="12" type="sldNum"/>
          </p:nvPr>
        </p:nvSpPr>
        <p:spPr>
          <a:xfrm>
            <a:off x="8321040" y="4769644"/>
            <a:ext cx="63246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2468880" y="201168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