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31" roundtripDataSignature="AMtx7mjJH1LDtARSwcevSJ9T+hndjfQgV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49E72A2-204A-4A87-8C0E-7DC628C7B589}">
  <a:tblStyle styleId="{849E72A2-204A-4A87-8C0E-7DC628C7B589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3F9FA"/>
          </a:solidFill>
        </a:fill>
      </a:tcStyle>
    </a:wholeTbl>
    <a:band1H>
      <a:tcTxStyle b="off" i="off"/>
      <a:tcStyle>
        <a:fill>
          <a:solidFill>
            <a:srgbClr val="E7F3F4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E7F3F4"/>
          </a:solidFill>
        </a:fill>
      </a:tcStyle>
    </a:band1V>
    <a:band2V>
      <a:tcTxStyle b="off" i="off"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customschemas.google.com/relationships/presentationmetadata" Target="metadata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" name="Google Shape;22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" name="Google Shape;3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4" name="Google Shape;44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3" name="Google Shape;53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5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" name="Google Shape;62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6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1" name="Google Shape;71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7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1" name="Google Shape;81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8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1" name="Google Shape;91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9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0" name="Google Shape;100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0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9" name="Google Shape;109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8" name="Google Shape;118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2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7" name="Google Shape;127;p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3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6" name="Google Shape;136;p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4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5" name="Google Shape;145;p1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5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4" name="Google Shape;154;p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6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3" name="Google Shape;163;p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7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2" name="Google Shape;172;p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8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2" name="Google Shape;182;p1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0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1" name="Google Shape;191;p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1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0" name="Google Shape;200;p2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2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0" name="Google Shape;210;p2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3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9" name="Google Shape;219;p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4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8" name="Google Shape;228;p2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5:notes"/>
          <p:cNvSpPr txBox="1"/>
          <p:nvPr>
            <p:ph idx="1" type="body"/>
          </p:nvPr>
        </p:nvSpPr>
        <p:spPr>
          <a:xfrm>
            <a:off x="685494" y="4342944"/>
            <a:ext cx="5487013" cy="4114593"/>
          </a:xfrm>
          <a:prstGeom prst="rect">
            <a:avLst/>
          </a:prstGeom>
          <a:noFill/>
          <a:ln>
            <a:noFill/>
          </a:ln>
        </p:spPr>
        <p:txBody>
          <a:bodyPr anchorCtr="0" anchor="t" bIns="86100" lIns="86100" spcFirstLastPara="1" rIns="86100" wrap="square" tIns="861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7" name="Google Shape;237;p2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7"/>
          <p:cNvSpPr txBox="1"/>
          <p:nvPr>
            <p:ph type="title"/>
          </p:nvPr>
        </p:nvSpPr>
        <p:spPr>
          <a:xfrm>
            <a:off x="907148" y="159201"/>
            <a:ext cx="6946900" cy="4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7"/>
          <p:cNvSpPr txBox="1"/>
          <p:nvPr>
            <p:ph idx="1" type="body"/>
          </p:nvPr>
        </p:nvSpPr>
        <p:spPr>
          <a:xfrm>
            <a:off x="152400" y="742950"/>
            <a:ext cx="8839200" cy="39719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✔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»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»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»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»"/>
              <a:defRPr/>
            </a:lvl9pPr>
          </a:lstStyle>
          <a:p/>
        </p:txBody>
      </p:sp>
      <p:sp>
        <p:nvSpPr>
          <p:cNvPr id="17" name="Google Shape;17;p27"/>
          <p:cNvSpPr txBox="1"/>
          <p:nvPr>
            <p:ph idx="10" type="dt"/>
          </p:nvPr>
        </p:nvSpPr>
        <p:spPr>
          <a:xfrm>
            <a:off x="38100" y="4743450"/>
            <a:ext cx="174498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27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" name="Google Shape;19;p27"/>
          <p:cNvSpPr txBox="1"/>
          <p:nvPr>
            <p:ph idx="11" type="ftr"/>
          </p:nvPr>
        </p:nvSpPr>
        <p:spPr>
          <a:xfrm>
            <a:off x="2171700" y="4769644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transition spd="med">
    <p:fade/>
  </p:transition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6"/>
          <p:cNvSpPr/>
          <p:nvPr/>
        </p:nvSpPr>
        <p:spPr>
          <a:xfrm>
            <a:off x="0" y="4664869"/>
            <a:ext cx="9144000" cy="457200"/>
          </a:xfrm>
          <a:prstGeom prst="rect">
            <a:avLst/>
          </a:prstGeom>
          <a:solidFill>
            <a:srgbClr val="262673"/>
          </a:solidFill>
          <a:ln cap="flat" cmpd="sng" w="9525">
            <a:solidFill>
              <a:srgbClr val="00009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26"/>
          <p:cNvSpPr txBox="1"/>
          <p:nvPr>
            <p:ph type="title"/>
          </p:nvPr>
        </p:nvSpPr>
        <p:spPr>
          <a:xfrm>
            <a:off x="261938" y="61913"/>
            <a:ext cx="6451600" cy="4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6"/>
          <p:cNvSpPr txBox="1"/>
          <p:nvPr>
            <p:ph idx="1" type="body"/>
          </p:nvPr>
        </p:nvSpPr>
        <p:spPr>
          <a:xfrm>
            <a:off x="152400" y="692944"/>
            <a:ext cx="8839200" cy="39719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00097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  <a:defRPr b="0" i="0" sz="2400" u="none" cap="none" strike="noStrike">
                <a:solidFill>
                  <a:srgbClr val="000097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97"/>
              </a:buClr>
              <a:buSzPts val="2000"/>
              <a:buFont typeface="Noto Sans Symbols"/>
              <a:buChar char="✔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rgbClr val="000097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97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97"/>
              </a:buClr>
              <a:buSzPts val="1800"/>
              <a:buFont typeface="Arial"/>
              <a:buChar char="»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97"/>
              </a:buClr>
              <a:buSzPts val="1800"/>
              <a:buFont typeface="Arial"/>
              <a:buChar char="»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97"/>
              </a:buClr>
              <a:buSzPts val="1800"/>
              <a:buFont typeface="Arial"/>
              <a:buChar char="»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97"/>
              </a:buClr>
              <a:buSzPts val="1800"/>
              <a:buFont typeface="Arial"/>
              <a:buChar char="»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26"/>
          <p:cNvSpPr/>
          <p:nvPr/>
        </p:nvSpPr>
        <p:spPr>
          <a:xfrm>
            <a:off x="0" y="620316"/>
            <a:ext cx="9144000" cy="89297"/>
          </a:xfrm>
          <a:prstGeom prst="rect">
            <a:avLst/>
          </a:prstGeom>
          <a:solidFill>
            <a:srgbClr val="262673"/>
          </a:solidFill>
          <a:ln cap="flat" cmpd="sng" w="9525">
            <a:solidFill>
              <a:schemeClr val="dk1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26"/>
          <p:cNvSpPr txBox="1"/>
          <p:nvPr>
            <p:ph idx="10" type="dt"/>
          </p:nvPr>
        </p:nvSpPr>
        <p:spPr>
          <a:xfrm>
            <a:off x="38100" y="4743450"/>
            <a:ext cx="1300163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26"/>
          <p:cNvSpPr txBox="1"/>
          <p:nvPr>
            <p:ph idx="12" type="sldNum"/>
          </p:nvPr>
        </p:nvSpPr>
        <p:spPr>
          <a:xfrm>
            <a:off x="6819900" y="4769644"/>
            <a:ext cx="213360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" name="Google Shape;12;p26"/>
          <p:cNvSpPr txBox="1"/>
          <p:nvPr>
            <p:ph idx="11" type="ftr"/>
          </p:nvPr>
        </p:nvSpPr>
        <p:spPr>
          <a:xfrm>
            <a:off x="2171700" y="4769644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3" name="Google Shape;13;p26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5982788" y="0"/>
            <a:ext cx="3161211" cy="6203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</p:sldLayoutIdLst>
  <p:transition spd="med">
    <p:fade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-US" sz="1200">
                <a:latin typeface="Times New Roman"/>
                <a:ea typeface="Times New Roman"/>
                <a:cs typeface="Times New Roman"/>
                <a:sym typeface="Times New Roman"/>
              </a:rPr>
              <a:t>1</a:t>
            </a:r>
            <a:endParaRPr/>
          </a:p>
        </p:txBody>
      </p:sp>
      <p:sp>
        <p:nvSpPr>
          <p:cNvPr id="25" name="Google Shape;25;p1"/>
          <p:cNvSpPr txBox="1"/>
          <p:nvPr>
            <p:ph idx="11" type="ftr"/>
          </p:nvPr>
        </p:nvSpPr>
        <p:spPr>
          <a:xfrm>
            <a:off x="2171700" y="4769644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i="0" lang="en-US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School of Computing </a:t>
            </a:r>
            <a:endParaRPr b="1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0" y="4664869"/>
            <a:ext cx="9144000" cy="457200"/>
          </a:xfrm>
          <a:prstGeom prst="rect">
            <a:avLst/>
          </a:prstGeom>
          <a:solidFill>
            <a:srgbClr val="262673"/>
          </a:solidFill>
          <a:ln cap="flat" cmpd="sng" w="9525">
            <a:solidFill>
              <a:srgbClr val="00009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 txBox="1"/>
          <p:nvPr/>
        </p:nvSpPr>
        <p:spPr>
          <a:xfrm>
            <a:off x="8316191" y="3730643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r>
            <a:endParaRPr b="1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 txBox="1"/>
          <p:nvPr/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School of Computing </a:t>
            </a:r>
            <a:endParaRPr b="1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" name="Google Shape;29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84112" y="0"/>
            <a:ext cx="3359888" cy="691116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1"/>
          <p:cNvSpPr txBox="1"/>
          <p:nvPr/>
        </p:nvSpPr>
        <p:spPr>
          <a:xfrm>
            <a:off x="502920" y="1446257"/>
            <a:ext cx="8138100" cy="15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</a:pPr>
            <a:r>
              <a:rPr b="1" i="0" lang="en-US" sz="31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Temporal Feature-Driven Machine Learning Framework for ODI Score Prediction and Player Role Classification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 txBox="1"/>
          <p:nvPr/>
        </p:nvSpPr>
        <p:spPr>
          <a:xfrm>
            <a:off x="502927" y="3436275"/>
            <a:ext cx="1816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Guided by</a:t>
            </a:r>
            <a:b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Dr. Vidivelli S</a:t>
            </a:r>
            <a:endParaRPr b="0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2" name="Google Shape;32;p1"/>
          <p:cNvSpPr txBox="1"/>
          <p:nvPr/>
        </p:nvSpPr>
        <p:spPr>
          <a:xfrm>
            <a:off x="5029200" y="3435850"/>
            <a:ext cx="37557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Presented by</a:t>
            </a:r>
            <a:endParaRPr b="0" i="0" sz="15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Priya Dharshini V – 127018063 (CSBS)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Presentation Layout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8" name="Google Shape;38;p2"/>
          <p:cNvSpPr txBox="1"/>
          <p:nvPr/>
        </p:nvSpPr>
        <p:spPr>
          <a:xfrm>
            <a:off x="212651" y="1061626"/>
            <a:ext cx="8633700" cy="36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41300" lvl="0" marL="2286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0" i="0" lang="en-US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Motivation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41300" lvl="0" marL="2286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0" i="0" lang="en-US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41300" lvl="0" marL="2286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0" i="0" lang="en-US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Problem Statement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41300" lvl="0" marL="2286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0" i="0" lang="en-US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Literature Survey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41300" lvl="0" marL="2286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0" i="0" lang="en-US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Flow Diagram / System Architecture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41300" lvl="0" marL="2286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0" i="0" lang="en-US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Dataset &amp; Preprocessing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41300" lvl="0" marL="2286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0" i="0" lang="en-US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Proposed Methodology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41300" lvl="0" marL="2286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0" i="0" lang="en-US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Results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41300" lvl="0" marL="2286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Future Work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41300" lvl="0" marL="2286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0" i="0" lang="en-US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40" name="Google Shape;4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43182" y="0"/>
            <a:ext cx="3000818" cy="677714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2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-US" sz="1200"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endParaRPr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lang="en-US" sz="2400">
                <a:latin typeface="Times New Roman"/>
                <a:ea typeface="Times New Roman"/>
                <a:cs typeface="Times New Roman"/>
                <a:sym typeface="Times New Roman"/>
              </a:rPr>
              <a:t>Motivation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255181" y="896407"/>
            <a:ext cx="8633638" cy="36812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80975" lvl="0" marL="180975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ODI ball-by-ball data contains rich sequential information about scoring, wickets and player context.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975" lvl="0" marL="180975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Final-score prediction depends on both the current innings state and recent match momentum.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975" lvl="0" marL="180975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Static features alone may miss short-term changes in scoring rate, boundaries and wickets.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975" lvl="0" marL="180975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Player role classification provides a complementary player-level analytics task.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975" lvl="0" marL="180975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reproducible ML pipeline is required from raw Cricsheet data to deployable predictions.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3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49" name="Google Shape;4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43182" y="0"/>
            <a:ext cx="3000818" cy="677714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3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-US" sz="1200">
                <a:latin typeface="Times New Roman"/>
                <a:ea typeface="Times New Roman"/>
                <a:cs typeface="Times New Roman"/>
                <a:sym typeface="Times New Roman"/>
              </a:rPr>
              <a:t>3</a:t>
            </a:r>
            <a:endParaRPr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lang="en-US" sz="2400">
                <a:latin typeface="Times New Roman"/>
                <a:ea typeface="Times New Roman"/>
                <a:cs typeface="Times New Roman"/>
                <a:sym typeface="Times New Roman"/>
              </a:rPr>
              <a:t>Objective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255181" y="896407"/>
            <a:ext cx="8633638" cy="36812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80975" lvl="0" marL="180975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Predict the final ODI innings score from the current match state.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975" lvl="0" marL="180975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Introduce temporal features that capture recent scoring, ball quality and wicket momentum.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975" lvl="0" marL="180975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Compare multiple machine-learning regressors and build the final XGBoost score model.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975" lvl="0" marL="180975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Classify players into Batsman, Batting All-rounder, Bowler and Bowling All-rounder.</a:t>
            </a:r>
            <a:endParaRPr b="0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0975" lvl="0" marL="180975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Evaluate performance using test metrics, cross-validation and detailed error analysis.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4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58" name="Google Shape;5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43182" y="0"/>
            <a:ext cx="3000818" cy="677714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4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-US" sz="1200">
                <a:latin typeface="Times New Roman"/>
                <a:ea typeface="Times New Roman"/>
                <a:cs typeface="Times New Roman"/>
                <a:sym typeface="Times New Roman"/>
              </a:rPr>
              <a:t>4</a:t>
            </a:r>
            <a:endParaRPr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lang="en-US" sz="2400">
                <a:latin typeface="Times New Roman"/>
                <a:ea typeface="Times New Roman"/>
                <a:cs typeface="Times New Roman"/>
                <a:sym typeface="Times New Roman"/>
              </a:rPr>
              <a:t>Problem Statement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5" name="Google Shape;65;p5"/>
          <p:cNvSpPr txBox="1"/>
          <p:nvPr/>
        </p:nvSpPr>
        <p:spPr>
          <a:xfrm>
            <a:off x="255181" y="896407"/>
            <a:ext cx="8633638" cy="36812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80975" lvl="0" marL="180975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Given ball-by-ball ODI information at a particular point in an innings, estimate the final innings score.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975" lvl="0" marL="180975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Handle numerical match-state features and categorical context such as teams, venue and players.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975" lvl="0" marL="180975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Engineer temporal information without using future deliveries or causing data leakage.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975" lvl="0" marL="180975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Prediction error varies across innings stages, score ranges and overs remaining.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80975" lvl="0" marL="180975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second ML task classifies players using batting and bowling performance statistics.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5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67" name="Google Shape;67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43182" y="0"/>
            <a:ext cx="3000818" cy="67771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-US" sz="1200">
                <a:latin typeface="Times New Roman"/>
                <a:ea typeface="Times New Roman"/>
                <a:cs typeface="Times New Roman"/>
                <a:sym typeface="Times New Roman"/>
              </a:rPr>
              <a:t>5</a:t>
            </a:r>
            <a:endParaRPr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6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Literature Survey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4" name="Google Shape;74;p6"/>
          <p:cNvSpPr txBox="1"/>
          <p:nvPr/>
        </p:nvSpPr>
        <p:spPr>
          <a:xfrm>
            <a:off x="0" y="787146"/>
            <a:ext cx="9144000" cy="37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360"/>
              </a:spcBef>
              <a:spcAft>
                <a:spcPts val="0"/>
              </a:spcAft>
              <a:buClr>
                <a:srgbClr val="000097"/>
              </a:buClr>
              <a:buSzPts val="1800"/>
              <a:buFont typeface="Noto Sans Symbols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5" name="Google Shape;75;p6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76" name="Google Shape;7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34987" y="-1"/>
            <a:ext cx="3009014" cy="627321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6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-US" sz="1200">
                <a:latin typeface="Times New Roman"/>
                <a:ea typeface="Times New Roman"/>
                <a:cs typeface="Times New Roman"/>
                <a:sym typeface="Times New Roman"/>
              </a:rPr>
              <a:t>6</a:t>
            </a:r>
            <a:endParaRPr/>
          </a:p>
        </p:txBody>
      </p:sp>
      <p:graphicFrame>
        <p:nvGraphicFramePr>
          <p:cNvPr id="78" name="Google Shape;78;p6"/>
          <p:cNvGraphicFramePr/>
          <p:nvPr/>
        </p:nvGraphicFramePr>
        <p:xfrm>
          <a:off x="320040" y="9601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{849E72A2-204A-4A87-8C0E-7DC628C7B589}</a:tableStyleId>
              </a:tblPr>
              <a:tblGrid>
                <a:gridCol w="2162675"/>
                <a:gridCol w="1764200"/>
                <a:gridCol w="4074125"/>
              </a:tblGrid>
              <a:tr h="8458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Study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Dataset / Approach </a:t>
                      </a:r>
                      <a:endParaRPr b="1" sz="12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Key Contribution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</a:tr>
              <a:tr h="845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Suguna et al. (2023) - Base Paper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Cricsheet ODI + ML models </a:t>
                      </a:r>
                      <a:endParaRPr sz="115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Score prediction + 4-class player categorization 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</a:tr>
              <a:tr h="845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Lawate et al. 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IPL ball-by-ball data </a:t>
                      </a:r>
                      <a:endParaRPr sz="115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Used recent 5-over statistics for score prediction 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</a:tr>
              <a:tr h="845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Gagana et al. 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T20 match data </a:t>
                      </a:r>
                      <a:endParaRPr sz="115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Compared Naive Bayes, Decision Tree and Random Forest 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7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Literature Survey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4" name="Google Shape;84;p7"/>
          <p:cNvSpPr txBox="1"/>
          <p:nvPr/>
        </p:nvSpPr>
        <p:spPr>
          <a:xfrm>
            <a:off x="0" y="760021"/>
            <a:ext cx="9144000" cy="37292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360"/>
              </a:spcBef>
              <a:spcAft>
                <a:spcPts val="0"/>
              </a:spcAft>
              <a:buClr>
                <a:srgbClr val="000097"/>
              </a:buClr>
              <a:buSzPts val="1800"/>
              <a:buFont typeface="Noto Sans Symbols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5" name="Google Shape;85;p7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86" name="Google Shape;8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34987" y="-1"/>
            <a:ext cx="3009014" cy="627321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7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7</a:t>
            </a:r>
            <a:endParaRPr/>
          </a:p>
        </p:txBody>
      </p:sp>
      <p:graphicFrame>
        <p:nvGraphicFramePr>
          <p:cNvPr id="88" name="Google Shape;88;p7"/>
          <p:cNvGraphicFramePr/>
          <p:nvPr/>
        </p:nvGraphicFramePr>
        <p:xfrm>
          <a:off x="320040" y="9601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{849E72A2-204A-4A87-8C0E-7DC628C7B589}</a:tableStyleId>
              </a:tblPr>
              <a:tblGrid>
                <a:gridCol w="4229100"/>
                <a:gridCol w="4229100"/>
              </a:tblGrid>
              <a:tr h="8458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Research Gap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Proposed Focus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</a:tr>
              <a:tr h="845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0" lang="en-US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Limited temporal context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0" lang="en-US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Combine current innings state with multi-window recent features.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</a:tr>
              <a:tr h="845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0" lang="en-US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Hidden stage-wise errors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0" lang="en-US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Analyse error by innings stage, score range and overs remaining.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</a:tr>
              <a:tr h="845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0" lang="en-US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Early/short innings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0" lang="en-US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Explicitly test robustness instead of removing difficult cases.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8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System Architecture</a:t>
            </a:r>
            <a:endParaRPr/>
          </a:p>
        </p:txBody>
      </p:sp>
      <p:sp>
        <p:nvSpPr>
          <p:cNvPr id="94" name="Google Shape;94;p8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95" name="Google Shape;9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88000" y="0"/>
            <a:ext cx="3256000" cy="656449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8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8</a:t>
            </a:r>
            <a:endParaRPr/>
          </a:p>
        </p:txBody>
      </p:sp>
      <p:pic>
        <p:nvPicPr>
          <p:cNvPr id="97" name="Google Shape;97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69025" y="868363"/>
            <a:ext cx="5605947" cy="37372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9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lang="en-US" sz="2400">
                <a:latin typeface="Times New Roman"/>
                <a:ea typeface="Times New Roman"/>
                <a:cs typeface="Times New Roman"/>
                <a:sym typeface="Times New Roman"/>
              </a:rPr>
              <a:t>Dataset Description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3" name="Google Shape;103;p9"/>
          <p:cNvSpPr txBox="1"/>
          <p:nvPr/>
        </p:nvSpPr>
        <p:spPr>
          <a:xfrm>
            <a:off x="268224" y="926591"/>
            <a:ext cx="8638676" cy="36142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Dataset: Cricsheet Men's ODI ball-by-ball JSON data.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2,576 ODI matches were used in the chronological match-level evaluation.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The processed dataset contains 1,366,311 delivery records.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Each delivery contains innings context, teams, players, runs and wicket information.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The final score-prediction pipeline uses 20 model input features.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70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Player classification dataset contains 1,340 player records across four role classes.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9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105" name="Google Shape;105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0019" y="0"/>
            <a:ext cx="3053981" cy="698979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9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9</a:t>
            </a:r>
            <a:endParaRPr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0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lang="en-US" sz="2400">
                <a:latin typeface="Times New Roman"/>
                <a:ea typeface="Times New Roman"/>
                <a:cs typeface="Times New Roman"/>
                <a:sym typeface="Times New Roman"/>
              </a:rPr>
              <a:t>Dataset Preprocessing – Data Preparation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2" name="Google Shape;112;p10"/>
          <p:cNvSpPr txBox="1"/>
          <p:nvPr/>
        </p:nvSpPr>
        <p:spPr>
          <a:xfrm>
            <a:off x="268224" y="926591"/>
            <a:ext cx="8638676" cy="36142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Parse each Cricsheet JSON match into structured delivery-level records.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Preserve chronological delivery order within every innings.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Create match, innings, over and ball identifiers for feature construction.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Track cumulative score, wickets and current run rate at each prediction point.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7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Use a chronological match-level split so test matches do not overlap with training matches.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0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114" name="Google Shape;114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0019" y="0"/>
            <a:ext cx="3053981" cy="698979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0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10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1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lang="en-US" sz="2400">
                <a:latin typeface="Times New Roman"/>
                <a:ea typeface="Times New Roman"/>
                <a:cs typeface="Times New Roman"/>
                <a:sym typeface="Times New Roman"/>
              </a:rPr>
              <a:t>Dataset Preprocessing – Targets &amp; Role Labels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1" name="Google Shape;121;p11"/>
          <p:cNvSpPr txBox="1"/>
          <p:nvPr/>
        </p:nvSpPr>
        <p:spPr>
          <a:xfrm>
            <a:off x="282498" y="854927"/>
            <a:ext cx="8576494" cy="36703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Score-prediction target: final score of the corresponding ODI innings.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Player-classification target: four role classes derived from batting and bowling statistics.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Role 0 → Batsman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Role 1 → Batting All-rounder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Role 2 → Bowler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Role 3 → Bowling All-rounder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70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The player dataset contains 1,340 labelled records.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1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123" name="Google Shape;12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0019" y="0"/>
            <a:ext cx="3053981" cy="698979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1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11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lang="en-US" sz="2400">
                <a:latin typeface="Times New Roman"/>
                <a:ea typeface="Times New Roman"/>
                <a:cs typeface="Times New Roman"/>
                <a:sym typeface="Times New Roman"/>
              </a:rPr>
              <a:t>Feature Engineering – Model Inputs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0" name="Google Shape;130;p12"/>
          <p:cNvSpPr txBox="1"/>
          <p:nvPr/>
        </p:nvSpPr>
        <p:spPr>
          <a:xfrm>
            <a:off x="282498" y="854927"/>
            <a:ext cx="8576494" cy="36703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13 numerical features include innings state, run rate, overs remaining and temporal statistics.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Temporal variables include last-3/5/10-over scoring, boundary rate, dot-ball rate and recent 5-over wickets.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7 categorical features: season, venue, batting team, bowling team, batter, non-striker and bowler.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Categorical variables are one-hot encoded with unknown categories handled safely.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70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Final score-prediction input size = 20 features.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2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132" name="Google Shape;132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0019" y="0"/>
            <a:ext cx="3053981" cy="698979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2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12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3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lang="en-US" sz="2400">
                <a:latin typeface="Times New Roman"/>
                <a:ea typeface="Times New Roman"/>
                <a:cs typeface="Times New Roman"/>
                <a:sym typeface="Times New Roman"/>
              </a:rPr>
              <a:t>Methodology – Match-State Features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13"/>
          <p:cNvSpPr txBox="1"/>
          <p:nvPr/>
        </p:nvSpPr>
        <p:spPr>
          <a:xfrm>
            <a:off x="282498" y="854927"/>
            <a:ext cx="8576494" cy="36703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Current score and wickets describe the present innings state.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Over and ball identify the exact point within the innings.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Current run rate summarizes scoring pace up to the prediction point.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Overs remaining provides the remaining opportunity to add runs.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7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These state features form the baseline representation before temporal information is added.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3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141" name="Google Shape;14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0019" y="0"/>
            <a:ext cx="3053981" cy="69897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3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13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4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lang="en-US" sz="2400">
                <a:latin typeface="Times New Roman"/>
                <a:ea typeface="Times New Roman"/>
                <a:cs typeface="Times New Roman"/>
                <a:sym typeface="Times New Roman"/>
              </a:rPr>
              <a:t>Methodology – Temporal Features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8" name="Google Shape;148;p14"/>
          <p:cNvSpPr txBox="1"/>
          <p:nvPr/>
        </p:nvSpPr>
        <p:spPr>
          <a:xfrm>
            <a:off x="282498" y="854927"/>
            <a:ext cx="8576494" cy="36703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Last-3, last-5 and last-10-over scores capture recent scoring momentum at multiple time scales.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Boundary rate measures the frequency of fours and sixes in recent context.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Dot-ball rate represents pressure and low-scoring deliveries.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Recent 5-over wickets capture wicket momentum and changing batting stability.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7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Ablation testing evaluates which temporal groups contribute to final performance.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4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>
                <a:latin typeface="Arial"/>
                <a:ea typeface="Arial"/>
                <a:cs typeface="Arial"/>
                <a:sym typeface="Arial"/>
              </a:rPr>
              <a:t>School of Computing </a:t>
            </a:r>
            <a:endParaRPr/>
          </a:p>
        </p:txBody>
      </p:sp>
      <p:pic>
        <p:nvPicPr>
          <p:cNvPr id="150" name="Google Shape;15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0019" y="0"/>
            <a:ext cx="3053981" cy="698979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4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14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5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lang="en-US" sz="2400">
                <a:latin typeface="Times New Roman"/>
                <a:ea typeface="Times New Roman"/>
                <a:cs typeface="Times New Roman"/>
                <a:sym typeface="Times New Roman"/>
              </a:rPr>
              <a:t>Methodology – XGBoost Models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7" name="Google Shape;157;p15"/>
          <p:cNvSpPr txBox="1"/>
          <p:nvPr/>
        </p:nvSpPr>
        <p:spPr>
          <a:xfrm>
            <a:off x="282498" y="854927"/>
            <a:ext cx="8576494" cy="36703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Final score predictor: XGBoost regression pipeline.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Preprocessing combines numerical passthrough with one-hot encoding for categorical variables.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The model was selected after baseline comparison and temporal-feature experiments.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Player classifier: XGBoost multiclass classification using batting and bowling statistics.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70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Saved model artifacts are integrated into the Streamlit demonstration application.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15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159" name="Google Shape;15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0019" y="0"/>
            <a:ext cx="3053981" cy="698979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5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15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6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lang="en-US" sz="2400">
                <a:latin typeface="Times New Roman"/>
                <a:ea typeface="Times New Roman"/>
                <a:cs typeface="Times New Roman"/>
                <a:sym typeface="Times New Roman"/>
              </a:rPr>
              <a:t>Training &amp; Testing Workflow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282498" y="854927"/>
            <a:ext cx="8576494" cy="36703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Chronological match-level split: 2,060 training matches and 516 testing matches.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Training and testing matches have zero overlap.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Training records: 1,093,612 delivery rows; testing records: 272,699 delivery rows.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Train on earlier matches and evaluate on later unseen matches.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70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Player classification additionally uses stratified 5-fold cross-validation.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6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168" name="Google Shape;16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0019" y="0"/>
            <a:ext cx="3053981" cy="698979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6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16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7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lang="en-US" sz="2400">
                <a:latin typeface="Times New Roman"/>
                <a:ea typeface="Times New Roman"/>
                <a:cs typeface="Times New Roman"/>
                <a:sym typeface="Times New Roman"/>
              </a:rPr>
              <a:t>Result – Score Prediction Metrics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5" name="Google Shape;175;p17"/>
          <p:cNvSpPr txBox="1"/>
          <p:nvPr/>
        </p:nvSpPr>
        <p:spPr>
          <a:xfrm>
            <a:off x="282498" y="868680"/>
            <a:ext cx="857649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Final XGBoost: MAE 32.95 runs, RMSE 44.25 runs, R² 0.5229.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Exact match-level analysis: MAE 32.93 runs, RMSE 44.27 runs, R² 0.5252.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70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Adding all temporal features improves the state-only MAE from 33.23 to 32.95.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7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177" name="Google Shape;17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0019" y="0"/>
            <a:ext cx="3053981" cy="698979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7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17</a:t>
            </a:r>
            <a:endParaRPr/>
          </a:p>
        </p:txBody>
      </p:sp>
      <p:graphicFrame>
        <p:nvGraphicFramePr>
          <p:cNvPr id="179" name="Google Shape;179;p17"/>
          <p:cNvGraphicFramePr/>
          <p:nvPr/>
        </p:nvGraphicFramePr>
        <p:xfrm>
          <a:off x="914400" y="18288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{849E72A2-204A-4A87-8C0E-7DC628C7B589}</a:tableStyleId>
              </a:tblPr>
              <a:tblGrid>
                <a:gridCol w="3566150"/>
                <a:gridCol w="3566150"/>
              </a:tblGrid>
              <a:tr h="320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Model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b="1" lang="en-US" sz="12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MAE / RMSE / R²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0" lang="en-US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XGBoost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0" lang="en-US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32.95 / 44.25 / 0.5229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0" lang="en-US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SVM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0" lang="en-US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33.47 / 45.24 / 0.5065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0" lang="en-US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Random Forest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0" lang="en-US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33.44 / 45.40 / 0.4998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0" lang="en-US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Gradient Boosting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0" lang="en-US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34.68 / 46.04 / 0.4855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0" lang="en-US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Linear Regression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0" lang="en-US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38.46 / 50.18 / 0.3891</a:t>
                      </a:r>
                      <a:endParaRPr sz="1400" u="none" cap="none" strike="noStrike"/>
                    </a:p>
                  </a:txBody>
                  <a:tcPr marT="45725" marB="45725" marR="91450" marL="91450" anchor="ctr"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8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lang="en-US" sz="2400">
                <a:latin typeface="Times New Roman"/>
                <a:ea typeface="Times New Roman"/>
                <a:cs typeface="Times New Roman"/>
                <a:sym typeface="Times New Roman"/>
              </a:rPr>
              <a:t>Result – Player Classification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5" name="Google Shape;185;p18"/>
          <p:cNvSpPr txBox="1"/>
          <p:nvPr/>
        </p:nvSpPr>
        <p:spPr>
          <a:xfrm>
            <a:off x="282498" y="944135"/>
            <a:ext cx="8576494" cy="3588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XGBoost test accuracy = 99.25%; weighted F1 = 99.25%.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5-fold stratified CV accuracy = 97.61% ± 0.90%.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Random Forest: 97.76% test accuracy; 96.72% mean CV accuracy.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SVM: 91.04% test accuracy; 89.25% mean CV accuracy.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70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The engineered batting/bowling profiles provide strong separation among the four role classes.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8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187" name="Google Shape;18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0019" y="0"/>
            <a:ext cx="3053981" cy="698979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8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18</a:t>
            </a:r>
            <a:endParaRPr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0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lang="en-US" sz="2400">
                <a:latin typeface="Times New Roman"/>
                <a:ea typeface="Times New Roman"/>
                <a:cs typeface="Times New Roman"/>
                <a:sym typeface="Times New Roman"/>
              </a:rPr>
              <a:t>Result – Error Analysis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4" name="Google Shape;194;p20"/>
          <p:cNvSpPr txBox="1"/>
          <p:nvPr/>
        </p:nvSpPr>
        <p:spPr>
          <a:xfrm>
            <a:off x="282498" y="944135"/>
            <a:ext cx="8576494" cy="3588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Overall match-level evaluation: MAE 32.93 runs, RMSE 44.27 runs, R² 0.5252.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By innings stage: Powerplay MAE 47.88; Middle overs 31.90; Death overs 12.58.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By current score: MAE falls from 46.11 for scores below 50 to 15.38 for scores above 200.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By overs remaining: MAE is 47.91 when more than 40 overs remain and 12.75 at 0–10 overs remaining.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70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Accuracy improves as the innings progresses and more information about the final score becomes available.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0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196" name="Google Shape;19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0019" y="0"/>
            <a:ext cx="3053981" cy="698979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0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19</a:t>
            </a:r>
            <a:endParaRPr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1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lang="en-US" sz="2400">
                <a:latin typeface="Times New Roman"/>
                <a:ea typeface="Times New Roman"/>
                <a:cs typeface="Times New Roman"/>
                <a:sym typeface="Times New Roman"/>
              </a:rPr>
              <a:t>Result – Ablation &amp; Robustness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3" name="Google Shape;203;p21"/>
          <p:cNvSpPr txBox="1"/>
          <p:nvPr/>
        </p:nvSpPr>
        <p:spPr>
          <a:xfrm>
            <a:off x="320040" y="932688"/>
            <a:ext cx="7955279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State-only MAE = 33.23; State + Ball Quality = 33.06; State + All Temporal = 32.95.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Long innings (30+ overs): MAE 29.88; Very short innings (&lt;10 overs): MAE 187.52.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Short/early-terminated innings remain the major robustness limitation.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Difficult cases were retained rather than removed from evaluation.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21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205" name="Google Shape;205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0019" y="0"/>
            <a:ext cx="3053981" cy="698979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1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20</a:t>
            </a:r>
            <a:endParaRPr/>
          </a:p>
        </p:txBody>
      </p:sp>
      <p:pic>
        <p:nvPicPr>
          <p:cNvPr descr="image.png" id="207" name="Google Shape;20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28800" y="2057400"/>
            <a:ext cx="4846320" cy="25050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2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Future Work 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3" name="Google Shape;213;p22"/>
          <p:cNvSpPr txBox="1"/>
          <p:nvPr/>
        </p:nvSpPr>
        <p:spPr>
          <a:xfrm>
            <a:off x="282498" y="944135"/>
            <a:ext cx="8576494" cy="35885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Improve early-innings and short-innings prediction using richer sequential representations.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Investigate calibrated prediction intervals or uncertainty estimates for predicted scores.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Evaluate additional temporal models such as sequence-based neural architectures.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Extend validation to other cricket formats and competitions where compatible data is available.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Continue refining the Streamlit interface for live/demo-style prediction workflows.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2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215" name="Google Shape;2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0019" y="0"/>
            <a:ext cx="3053981" cy="698979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2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21</a:t>
            </a:r>
            <a:endParaRPr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3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lang="en-US" sz="2400"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2" name="Google Shape;222;p23"/>
          <p:cNvSpPr txBox="1"/>
          <p:nvPr/>
        </p:nvSpPr>
        <p:spPr>
          <a:xfrm>
            <a:off x="170985" y="892098"/>
            <a:ext cx="8749992" cy="36204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AutoNum type="arabicPeriod"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Cricsheet, Men's ODI ball-by-ball JSON data, used for delivery-level match modelling.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AutoNum type="arabicPeriod"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Suguna R., Praveen Kumar Y., Suriya Prakash J., Neethu P.S., and Kiran S., “Utilizing Machine Learning for Sport Data Analytics in Cricket: Score Prediction and Player Categorization,” 2023 IEEE 3rd Mysore Sub Section International Conference (MysuruCon), 2023.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AutoNum type="arabicPeriod"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S. Gagana, "A Perspective on Analyzing IPL Match Results using Machine Learning," Int. J. for Sci. Research &amp; Development, vol. 7, no. 3, pp. 1476-1479, 2019.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AutoNum type="arabicPeriod"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A. Lawate et al., "Cricket Analysis and Prediction of projected Score and Winner using Machine Learning," Int. J. of Adv. Research in Computer and Comm. Engg., vol. 10, no. 2, 2021.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AutoNum type="arabicPeriod"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Chen, T. and Guestrin, C., “XGBoost: A Scalable Tree Boosting System,” KDD, 2016.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AutoNum type="arabicPeriod"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Pedregosa, F. et al., “Scikit-learn: Machine Learning in Python,” JMLR, 2011.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AutoNum type="arabicPeriod"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Python Software Foundation, Python documentation and scientific-computing ecosystem.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3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224" name="Google Shape;224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6856" y="0"/>
            <a:ext cx="3107144" cy="720245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3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22</a:t>
            </a:r>
            <a:endParaRPr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4"/>
          <p:cNvSpPr txBox="1"/>
          <p:nvPr>
            <p:ph type="title"/>
          </p:nvPr>
        </p:nvSpPr>
        <p:spPr>
          <a:xfrm>
            <a:off x="0" y="0"/>
            <a:ext cx="6819900" cy="715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Project Resources &amp; Implementation 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1" name="Google Shape;231;p24"/>
          <p:cNvSpPr txBox="1"/>
          <p:nvPr/>
        </p:nvSpPr>
        <p:spPr>
          <a:xfrm>
            <a:off x="170985" y="892098"/>
            <a:ext cx="8749992" cy="36204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Dataset source: Cricsheet Men's ODI JSON data.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Processing: delivery-level parsing and chronological match-level train/test separation.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Feature engineering: state features + recent scoring + ball quality + wicket momentum.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Score model: final_xgboost_model.pkl.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Player model: final_player_classifier.pkl.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Demo application: app.py using Streamlit.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00"/>
              </a:spcBef>
              <a:spcAft>
                <a:spcPts val="70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Repository: github.com/VPriyaDharshini2/cricket-score-prediction-ml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24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233" name="Google Shape;233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6856" y="0"/>
            <a:ext cx="3107144" cy="720245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4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23</a:t>
            </a:r>
            <a:endParaRPr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5"/>
          <p:cNvSpPr txBox="1"/>
          <p:nvPr>
            <p:ph idx="11" type="ftr"/>
          </p:nvPr>
        </p:nvSpPr>
        <p:spPr>
          <a:xfrm>
            <a:off x="0" y="4758061"/>
            <a:ext cx="4648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400"/>
              <a:t>School of Computing </a:t>
            </a:r>
            <a:endParaRPr/>
          </a:p>
        </p:txBody>
      </p:sp>
      <p:pic>
        <p:nvPicPr>
          <p:cNvPr id="240" name="Google Shape;240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6856" y="0"/>
            <a:ext cx="3107144" cy="574158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25"/>
          <p:cNvSpPr txBox="1"/>
          <p:nvPr>
            <p:ph idx="12" type="sldNum"/>
          </p:nvPr>
        </p:nvSpPr>
        <p:spPr>
          <a:xfrm>
            <a:off x="8321040" y="4769644"/>
            <a:ext cx="632460" cy="3571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24</a:t>
            </a:r>
            <a:endParaRPr/>
          </a:p>
        </p:txBody>
      </p:sp>
      <p:sp>
        <p:nvSpPr>
          <p:cNvPr id="242" name="Google Shape;242;p25"/>
          <p:cNvSpPr txBox="1"/>
          <p:nvPr/>
        </p:nvSpPr>
        <p:spPr>
          <a:xfrm>
            <a:off x="2468880" y="2011680"/>
            <a:ext cx="4206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xmlns:r="http://schemas.openxmlformats.org/officeDocument/2006/relationships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